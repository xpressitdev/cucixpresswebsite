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9168E8"/>
            </a:solidFill>
            <a:ln w="38100" cap="flat">
              <a:solidFill>
                <a:srgbClr val="9168E8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11722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168E8"/>
              </a:solidFill>
              <a:ln w="9525" cap="flat">
                <a:solidFill>
                  <a:srgbClr val="9168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July</c:v>
                  </c:pt>
                  <c:pt idx="1">
                    <c:v>August</c:v>
                  </c:pt>
                  <c:pt idx="2">
                    <c:v>September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26.7103</c:v>
                </c:pt>
                <c:pt idx="1">
                  <c:v>31.38415</c:v>
                </c:pt>
                <c:pt idx="2">
                  <c:v>25.04795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11722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DDDD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policies.¹ Reported profit is EBITDA less recorded depreciation, on the management-reporting basis described in Appendix B. Financing and income tax are not separately modelled.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policies.The prior Q2 workbook gives revenue 84,929.92 and profit 3,234.72; the issued deck rounds these to 84,930 and 3,235. The application snapshot recalculates revenue 84,100.31 and profit -855.48. The exact workbook-to-app revenue difference is -829.61; using the rounded presentation number gives -829.69. These differences are unresolved, not approved adjustments. No cause is attributed to refunds, revisions or accounting policy without transaction evidence. Q3 83,142.40 versus previously reported 84,930 is -2.1048%, displayed -2.1%. Quarter-on-quarter profit, margin and cost improvement claims have been removed.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policies.Payroll here means Staff Wages + Part-timer Wages + Bonus. SPK is separately presented to avoid double counting. Other includes miscellaneous, maintenance, Connecteam, supplies and MDR; all groups reconcile to COS + OPEX.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policies.Central/unassigned rows reconcile all branches to Overall. No unassigned voucher sales are arbitrarily spread among branches. Subscription revenue may be unallocated until a branch is attributable. Central margin is intentionally not shown because no branch operating-cost allocation is applied to this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policies.Salar payroll 6638.72 and rent 6600.00 versus revenue 13371.00. Lambak payroll 5456.75 and rent 3000.00 versus revenue 8747.00. No staffing reduction, rent renegotiation or demand-growth assumption is represented as an approved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policies.Voucher revenue is recognized fully on original sale dates at the owner's direction, not deferred until service. This policy may differ from statutory/accrual treatment and should be reviewed with the accountant before external financial reliance. No buyer names or voucher serials are disclosed in the investor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policies.Live report status at extraction: live. Depreciation missing months: []. Informational excluded advance salary allocations: [{"code":"excluded_advance_salary","count":98,"missingDateCount":0,"missingAmountCount":0,"knownCents":325300}]. Such allocations are not unique submission counts. No savings claim is made from their exclusion.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policies.Management reports growing trust in Cuci Xpress from BSM, Takaful, Progresif, Bruhealth and Job Centre, alongside CEO-led marketing including a podcast with Posh Qifly and an appearance in Progresif Ding adverts. These examples are a qualitative brand-building update to date; activity dates were not specified, so they are not attributed specifically to Q3. No formal partnership, endorsement, contract value, audience reach or measured financial return is asserted. The long-term message expresses management's direction and commitment, not a guarantee of future profits.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CONFIDENTIAL — existing-shareholder update. Reporting period 1 July–30 September 2026, inclusive, Asia/Brunei. Q2 comparison: 1 April–30 June 2026. Source: Cuci Xpress management P&amp;L records, snapshot extracted 2026-10-05T20:43:43.996Z. All amounts BND. Reported profit is EBITDA less recorded depreciation; financing and income tax are not separately modelled. Figures are unaudited management accounts. See Appendix B for accounting policies.Existing-shareholder update based on a fixed aggregate snapshot of Cuci Xpress management P&amp;L records, extracted 6 October 2026 at 04:43 BNT; latest expense sync 04:42 BNT. The presentation addresses quarterly operating performance. Recommended actions are proposals for discussion, not approved commitments. Voucher revenue-at-sale treatment is a management-reporting policy and may differ from applicable statutory accounting treatment. Reported profit is not a measure of cash available for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SHAREHOLDER UPDATE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" y="1078992"/>
            <a:ext cx="2267712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1120140"/>
            <a:ext cx="2048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JUL — 30 SEP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1737360"/>
            <a:ext cx="68580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2026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548640" y="2788920"/>
            <a:ext cx="66294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priorities.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594360" y="4709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branches. One operating view.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594360" y="5541264"/>
            <a:ext cx="4251960" cy="347472"/>
          </a:xfrm>
          <a:prstGeom prst="roundRect">
            <a:avLst>
              <a:gd name="adj" fmla="val 36842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" y="5582412"/>
            <a:ext cx="4032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• SHAREHOLDER UPDATE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03820" y="1275588"/>
            <a:ext cx="3950208" cy="4535424"/>
          </a:xfrm>
          <a:prstGeom prst="roundRect">
            <a:avLst>
              <a:gd name="adj" fmla="val 3241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62672" y="1225296"/>
            <a:ext cx="3950208" cy="4535424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1609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55280" y="20848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B$83,142</a:t>
            </a:r>
            <a:endParaRPr lang="en-US" sz="3900" dirty="0"/>
          </a:p>
        </p:txBody>
      </p:sp>
      <p:sp>
        <p:nvSpPr>
          <p:cNvPr id="20" name="Shape 17"/>
          <p:cNvSpPr/>
          <p:nvPr/>
        </p:nvSpPr>
        <p:spPr>
          <a:xfrm>
            <a:off x="7955280" y="3035808"/>
            <a:ext cx="3328416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3319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profit¹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55280" y="3776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B$2,399.03</a:t>
            </a:r>
            <a:endParaRPr lang="en-US" sz="3100" dirty="0"/>
          </a:p>
        </p:txBody>
      </p:sp>
      <p:sp>
        <p:nvSpPr>
          <p:cNvPr id="23" name="Text 20"/>
          <p:cNvSpPr/>
          <p:nvPr/>
        </p:nvSpPr>
        <p:spPr>
          <a:xfrm>
            <a:off x="7955280" y="470001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2.9% margin • −2.1% revenue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Q2 previously reported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was profitable; September ended softer.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management results • Revenue benchmark: Q2 previously reported • See reconciliation on slide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9788" y="2409444"/>
            <a:ext cx="2679192" cy="2176272"/>
          </a:xfrm>
          <a:prstGeom prst="roundRect">
            <a:avLst>
              <a:gd name="adj" fmla="val 5882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59152"/>
            <a:ext cx="2679192" cy="217627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25420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" y="2999232"/>
            <a:ext cx="227685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B$83,142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749808" y="371246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−2.1% vs reported Q2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benchmark: B$84,930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51860" y="2409444"/>
            <a:ext cx="2679192" cy="2176272"/>
          </a:xfrm>
          <a:prstGeom prst="roundRect">
            <a:avLst>
              <a:gd name="adj" fmla="val 5882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10712" y="2359152"/>
            <a:ext cx="2679192" cy="2176272"/>
          </a:xfrm>
          <a:prstGeom prst="roundRect">
            <a:avLst>
              <a:gd name="adj" fmla="val 5882"/>
            </a:avLst>
          </a:prstGeom>
          <a:solidFill>
            <a:srgbClr val="F0EAFB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11880" y="25420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11880" y="2999232"/>
            <a:ext cx="227685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44.6%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3611880" y="371246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gross profit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B$37,090.70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313932" y="2409444"/>
            <a:ext cx="2679192" cy="2176272"/>
          </a:xfrm>
          <a:prstGeom prst="roundRect">
            <a:avLst>
              <a:gd name="adj" fmla="val 5882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72784" y="2359152"/>
            <a:ext cx="2679192" cy="217627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3952" y="25420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73952" y="2999232"/>
            <a:ext cx="227685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B$4,524.08</a:t>
            </a:r>
            <a:endParaRPr lang="en-US" sz="2500" dirty="0"/>
          </a:p>
        </p:txBody>
      </p:sp>
      <p:sp>
        <p:nvSpPr>
          <p:cNvPr id="24" name="Text 21"/>
          <p:cNvSpPr/>
          <p:nvPr/>
        </p:nvSpPr>
        <p:spPr>
          <a:xfrm>
            <a:off x="6473952" y="371246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 of Q3 revenue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depreciation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9176004" y="2409444"/>
            <a:ext cx="2679192" cy="2176272"/>
          </a:xfrm>
          <a:prstGeom prst="roundRect">
            <a:avLst>
              <a:gd name="adj" fmla="val 5882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34856" y="2359152"/>
            <a:ext cx="2679192" cy="2176272"/>
          </a:xfrm>
          <a:prstGeom prst="roundRect">
            <a:avLst>
              <a:gd name="adj" fmla="val 5882"/>
            </a:avLst>
          </a:prstGeom>
          <a:solidFill>
            <a:srgbClr val="FFF3E2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36024" y="2542032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PROFIT¹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336024" y="2999232"/>
            <a:ext cx="227685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B$2,399.03</a:t>
            </a:r>
            <a:endParaRPr lang="en-US" sz="2500" dirty="0"/>
          </a:p>
        </p:txBody>
      </p:sp>
      <p:sp>
        <p:nvSpPr>
          <p:cNvPr id="29" name="Text 26"/>
          <p:cNvSpPr/>
          <p:nvPr/>
        </p:nvSpPr>
        <p:spPr>
          <a:xfrm>
            <a:off x="9336024" y="3712464"/>
            <a:ext cx="22768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2.9% Q3 margin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recorded depreciation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40080" y="5038344"/>
            <a:ext cx="109728" cy="109728"/>
          </a:xfrm>
          <a:prstGeom prst="ellipse">
            <a:avLst/>
          </a:prstGeom>
          <a:solidFill>
            <a:srgbClr val="9168E8"/>
          </a:solidFill>
          <a:ln w="12700">
            <a:solidFill>
              <a:srgbClr val="9168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6968" y="496519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branches profitable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886968" y="5385816"/>
            <a:ext cx="5010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Bengkurong was the largest reported-profit contributor.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400800" y="5038344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47688" y="4965192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requires attention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6647688" y="5385816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−B$1,959.33 reported result; revenue fell 20.2% from August.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SCORECARD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financial scorecard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BND • Q3 management accounts • Expense figures shown as positive costs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11064240" cy="333756"/>
          </a:xfrm>
          <a:prstGeom prst="rect">
            <a:avLst>
              <a:gd name="adj" fmla="val 38356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368296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33488" y="2368296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2026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65476"/>
            <a:ext cx="11064240" cy="333756"/>
          </a:xfrm>
          <a:prstGeom prst="rect">
            <a:avLst>
              <a:gd name="adj" fmla="val 383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2702052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333488" y="2702052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83,142.40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2999232"/>
            <a:ext cx="11064240" cy="333756"/>
          </a:xfrm>
          <a:prstGeom prst="rect">
            <a:avLst>
              <a:gd name="adj" fmla="val 38356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035808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of services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33488" y="3035808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46,051.70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332988"/>
            <a:ext cx="11064240" cy="333756"/>
          </a:xfrm>
          <a:prstGeom prst="rect">
            <a:avLst>
              <a:gd name="adj" fmla="val 383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3369564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profit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33488" y="3369564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37,090.70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3666744"/>
            <a:ext cx="11064240" cy="333756"/>
          </a:xfrm>
          <a:prstGeom prst="rect">
            <a:avLst>
              <a:gd name="adj" fmla="val 38356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3703320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expenses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33488" y="3703320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32,566.62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4000500"/>
            <a:ext cx="11064240" cy="333756"/>
          </a:xfrm>
          <a:prstGeom prst="rect">
            <a:avLst>
              <a:gd name="adj" fmla="val 38356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4037076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333488" y="4037076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4,524.08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334256"/>
            <a:ext cx="11064240" cy="333756"/>
          </a:xfrm>
          <a:prstGeom prst="rect">
            <a:avLst>
              <a:gd name="adj" fmla="val 38356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8368" y="4370832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depreciation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333488" y="4370832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2,125.05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48640" y="4668012"/>
            <a:ext cx="11064240" cy="333756"/>
          </a:xfrm>
          <a:prstGeom prst="rect">
            <a:avLst>
              <a:gd name="adj" fmla="val 38356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8368" y="4704588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profit¹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333488" y="4704588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2,399.03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001768"/>
            <a:ext cx="11064240" cy="333756"/>
          </a:xfrm>
          <a:prstGeom prst="rect">
            <a:avLst>
              <a:gd name="adj" fmla="val 38356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8368" y="5038344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333488" y="5038344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44.6%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48640" y="5335524"/>
            <a:ext cx="11064240" cy="333756"/>
          </a:xfrm>
          <a:prstGeom prst="rect">
            <a:avLst>
              <a:gd name="adj" fmla="val 383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8368" y="5372100"/>
            <a:ext cx="6455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profit margin¹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333488" y="5372100"/>
            <a:ext cx="416966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2.9%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58368" y="58795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profit and cost comparisons are held pending reconciliation with the previously issued report.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 was the high point; September reversed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trend (B$ thousands) • July–September actuals • Exact monthly figures below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66928" y="2194560"/>
          <a:ext cx="6949440" cy="2761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8014716" y="2354580"/>
            <a:ext cx="3593592" cy="2487168"/>
          </a:xfrm>
          <a:prstGeom prst="roundRect">
            <a:avLst>
              <a:gd name="adj" fmla="val 5147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973568" y="2304288"/>
            <a:ext cx="3593592" cy="2487168"/>
          </a:xfrm>
          <a:prstGeom prst="roundRect">
            <a:avLst>
              <a:gd name="adj" fmla="val 5147"/>
            </a:avLst>
          </a:prstGeom>
          <a:solidFill>
            <a:srgbClr val="FFF3E2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11312" y="254203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VS AUGUST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11312" y="301752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−20.2%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8211312" y="3794760"/>
            <a:ext cx="3090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declined B$6,336.20.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 fell only B$469.59;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OPEX rose B$223.56.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94360" y="4965192"/>
            <a:ext cx="10963656" cy="292608"/>
          </a:xfrm>
          <a:prstGeom prst="rect">
            <a:avLst>
              <a:gd name="adj" fmla="val 43750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" y="500176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BND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813048" y="5001768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5001768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9171432" y="5001768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94360" y="5257800"/>
            <a:ext cx="10963656" cy="292608"/>
          </a:xfrm>
          <a:prstGeom prst="rect">
            <a:avLst>
              <a:gd name="adj" fmla="val 4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4088" y="529437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813048" y="52943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26,710.30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92240" y="5294376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31,384.15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9171432" y="5294376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25,047.95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94360" y="5550408"/>
            <a:ext cx="10963656" cy="292608"/>
          </a:xfrm>
          <a:prstGeom prst="rect">
            <a:avLst>
              <a:gd name="adj" fmla="val 43750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04088" y="5586984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3813048" y="5586984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935.87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492240" y="5586984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4,839.19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171432" y="558698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D34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-1,250.98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594360" y="5843016"/>
            <a:ext cx="10963656" cy="292608"/>
          </a:xfrm>
          <a:prstGeom prst="rect">
            <a:avLst>
              <a:gd name="adj" fmla="val 4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04088" y="587959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profit¹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813048" y="5879592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227.52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492240" y="5879592"/>
            <a:ext cx="2459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4,130.84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9171432" y="587959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D34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-1,959.33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RECONCILIATION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reference figures: reconciliation remains open.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Previously reported revenue remains the shareholder benchmark • No historical restatement is asserted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Previously issued Q2 presentation and supporting workbook • App snapshot: 6 Oct 2026 • BND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2286000"/>
            <a:ext cx="11018520" cy="393192"/>
          </a:xfrm>
          <a:prstGeom prst="rect">
            <a:avLst>
              <a:gd name="adj" fmla="val 32558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232257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revenue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447288" y="232257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workbook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90488" y="2322576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recalculation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979408" y="2322576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2679192"/>
            <a:ext cx="11018520" cy="393192"/>
          </a:xfrm>
          <a:prstGeom prst="rect">
            <a:avLst>
              <a:gd name="adj" fmla="val 325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4088" y="271576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47288" y="271576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34,646.86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190488" y="2715768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34,444.56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979408" y="271576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−202.30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94360" y="3072384"/>
            <a:ext cx="11018520" cy="393192"/>
          </a:xfrm>
          <a:prstGeom prst="rect">
            <a:avLst>
              <a:gd name="adj" fmla="val 32558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4088" y="31089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447288" y="31089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24,179.57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190488" y="3108960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23,569.96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79408" y="31089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−609.61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4360" y="3465576"/>
            <a:ext cx="11018520" cy="393192"/>
          </a:xfrm>
          <a:prstGeom prst="rect">
            <a:avLst>
              <a:gd name="adj" fmla="val 325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4088" y="350215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447288" y="350215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26,103.49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190488" y="350215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26,085.79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979408" y="350215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−17.70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94360" y="3858768"/>
            <a:ext cx="11018520" cy="393192"/>
          </a:xfrm>
          <a:prstGeom prst="rect">
            <a:avLst>
              <a:gd name="adj" fmla="val 32558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4088" y="389534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447288" y="389534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84,929.92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190488" y="3895344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84,100.31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979408" y="389534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−829.61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94944" y="44074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presentation: B$84,930 (rounded). Q3 revenue is 2.1% below that previously reported benchmark.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13232" y="5001768"/>
            <a:ext cx="109728" cy="109728"/>
          </a:xfrm>
          <a:prstGeom prst="ellipse">
            <a:avLst/>
          </a:prstGeom>
          <a:solidFill>
            <a:srgbClr val="9168E8"/>
          </a:solidFill>
          <a:ln w="12700">
            <a:solidFill>
              <a:srgbClr val="9168E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0120" y="4928616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comparison held</a:t>
            </a:r>
            <a:endParaRPr lang="en-US" sz="1700" dirty="0"/>
          </a:p>
        </p:txBody>
      </p:sp>
      <p:sp>
        <p:nvSpPr>
          <p:cNvPr id="38" name="Text 35"/>
          <p:cNvSpPr/>
          <p:nvPr/>
        </p:nvSpPr>
        <p:spPr>
          <a:xfrm>
            <a:off x="960120" y="5349240"/>
            <a:ext cx="5038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 Q2 presentation: B$3,235 profit.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recalculation: B$855.48 loss.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400800" y="5001768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47688" y="4928616"/>
            <a:ext cx="4764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reconciliation step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6647688" y="5349240"/>
            <a:ext cx="4764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underlying sales and expense records. The transaction-level cause of the differences is not yet established.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STRUCTURE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Payroll and rent absorb 74.8% of revenue.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cost of services + OPEX: B$78,618.32 • Excludes B$2,125.05 recorded depreciation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" y="235000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Wages, part-time &amp; bonus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30168" y="2395728"/>
            <a:ext cx="4800600" cy="201168"/>
          </a:xfrm>
          <a:prstGeom prst="rect">
            <a:avLst>
              <a:gd name="adj" fmla="val 63636"/>
            </a:avLst>
          </a:prstGeom>
          <a:solidFill>
            <a:srgbClr val="9168E8"/>
          </a:solidFill>
          <a:ln w="12700">
            <a:solidFill>
              <a:srgbClr val="916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2350008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B$37,725.60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3504" y="278892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630168" y="2834640"/>
            <a:ext cx="3111274" cy="201168"/>
          </a:xfrm>
          <a:prstGeom prst="rect">
            <a:avLst>
              <a:gd name="adj" fmla="val 63636"/>
            </a:avLst>
          </a:prstGeom>
          <a:solidFill>
            <a:srgbClr val="9168E8"/>
          </a:solidFill>
          <a:ln w="12700">
            <a:solidFill>
              <a:srgbClr val="9168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0" y="2788920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B$24,450.00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" y="3227832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Wash chemicals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630168" y="3273552"/>
            <a:ext cx="530075" cy="201168"/>
          </a:xfrm>
          <a:prstGeom prst="rect">
            <a:avLst>
              <a:gd name="adj" fmla="val 63636"/>
            </a:avLst>
          </a:prstGeom>
          <a:solidFill>
            <a:srgbClr val="C4ACEF"/>
          </a:solidFill>
          <a:ln w="12700">
            <a:solidFill>
              <a:srgbClr val="C4ACE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0" y="3227832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B$4,165.60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3504" y="3666744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fee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630168" y="3712464"/>
            <a:ext cx="477189" cy="201168"/>
          </a:xfrm>
          <a:prstGeom prst="rect">
            <a:avLst>
              <a:gd name="adj" fmla="val 63636"/>
            </a:avLst>
          </a:prstGeom>
          <a:solidFill>
            <a:srgbClr val="C4ACEF"/>
          </a:solidFill>
          <a:ln w="12700">
            <a:solidFill>
              <a:srgbClr val="C4AC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86800" y="3666744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B$3,750.00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3504" y="4105656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Water, electricity &amp; Wi-Fi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30168" y="4151376"/>
            <a:ext cx="374371" cy="201168"/>
          </a:xfrm>
          <a:prstGeom prst="rect">
            <a:avLst>
              <a:gd name="adj" fmla="val 63636"/>
            </a:avLst>
          </a:prstGeom>
          <a:solidFill>
            <a:srgbClr val="C4ACEF"/>
          </a:solidFill>
          <a:ln w="12700">
            <a:solidFill>
              <a:srgbClr val="C4ACE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0" y="4105656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B$2,942.00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3504" y="4544568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SPK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630168" y="4590288"/>
            <a:ext cx="339662" cy="201168"/>
          </a:xfrm>
          <a:prstGeom prst="rect">
            <a:avLst>
              <a:gd name="adj" fmla="val 63636"/>
            </a:avLst>
          </a:prstGeom>
          <a:solidFill>
            <a:srgbClr val="C4ACEF"/>
          </a:solidFill>
          <a:ln w="12700">
            <a:solidFill>
              <a:srgbClr val="C4ACE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0" y="4544568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B$2,669.24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03504" y="4983480"/>
            <a:ext cx="28529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other operating costs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3630168" y="5029200"/>
            <a:ext cx="371047" cy="201168"/>
          </a:xfrm>
          <a:prstGeom prst="rect">
            <a:avLst>
              <a:gd name="adj" fmla="val 63636"/>
            </a:avLst>
          </a:prstGeom>
          <a:solidFill>
            <a:srgbClr val="C4ACEF"/>
          </a:solidFill>
          <a:ln w="12700">
            <a:solidFill>
              <a:srgbClr val="C4ACE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0" y="4983480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B$2,915.88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85216" y="5687568"/>
            <a:ext cx="11009376" cy="438912"/>
          </a:xfrm>
          <a:prstGeom prst="roundRect">
            <a:avLst>
              <a:gd name="adj" fmla="val 29167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5528" y="5751576"/>
            <a:ext cx="10561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Payroll 45.4% of revenue  +  rent 29.4%  =  74.8% before other operating costs.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CONTRIBUTION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Bengkurong leads; two branches dilute returns.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2026 • BND • Branch contribution includes allocated operating costs and recorded depreciation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2340864"/>
            <a:ext cx="11000232" cy="411480"/>
          </a:xfrm>
          <a:prstGeom prst="rect">
            <a:avLst>
              <a:gd name="adj" fmla="val 31111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" y="237744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/ scope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02152" y="237744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0" y="237744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470648" y="237744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profit¹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875520" y="237744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Margin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" y="2752344"/>
            <a:ext cx="11000232" cy="411480"/>
          </a:xfrm>
          <a:prstGeom prst="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" y="278892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Tungku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502152" y="278892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28,875.00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0" y="278892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1,979.88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470648" y="278892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1,554.87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875520" y="278892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" y="3163824"/>
            <a:ext cx="11000232" cy="411480"/>
          </a:xfrm>
          <a:prstGeom prst="rect">
            <a:avLst>
              <a:gd name="adj" fmla="val 31111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" y="320040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02152" y="320040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13,371.00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486400" y="320040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D34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-2,425.95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70648" y="32004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D34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-2,850.96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875520" y="320040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-21.3%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94360" y="3575304"/>
            <a:ext cx="11000232" cy="411480"/>
          </a:xfrm>
          <a:prstGeom prst="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4088" y="361188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Bengkurong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502152" y="361188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17,606.00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486400" y="361188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4,892.35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470648" y="361188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4,467.34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9875520" y="361188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25.4%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94360" y="3986784"/>
            <a:ext cx="11000232" cy="411480"/>
          </a:xfrm>
          <a:prstGeom prst="rect">
            <a:avLst>
              <a:gd name="adj" fmla="val 31111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4088" y="402336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Tutong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502152" y="402336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13,000.00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486400" y="402336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594.41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470648" y="402336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87F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169.40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875520" y="402336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94360" y="4398264"/>
            <a:ext cx="11000232" cy="411480"/>
          </a:xfrm>
          <a:prstGeom prst="rect">
            <a:avLst>
              <a:gd name="adj" fmla="val 3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04088" y="443484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Lambak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3502152" y="443484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8,747.00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5486400" y="443484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D34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-2,035.20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7470648" y="443484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D34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-2,460.21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875520" y="443484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-28.1%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94360" y="4809744"/>
            <a:ext cx="11000232" cy="411480"/>
          </a:xfrm>
          <a:prstGeom prst="rect">
            <a:avLst>
              <a:gd name="adj" fmla="val 31111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04088" y="484632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/ unassigned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3502152" y="484632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1,543.40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486400" y="484632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1,518.59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7470648" y="484632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1,518.59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9875520" y="484632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94360" y="5221224"/>
            <a:ext cx="11000232" cy="411480"/>
          </a:xfrm>
          <a:prstGeom prst="rect">
            <a:avLst>
              <a:gd name="adj" fmla="val 31111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04088" y="5257800"/>
            <a:ext cx="2578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3502152" y="525780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83,142.40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5486400" y="5257800"/>
            <a:ext cx="17647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4,524.08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7470648" y="5257800"/>
            <a:ext cx="21854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2,399.03</a:t>
            </a:r>
            <a:endParaRPr lang="en-US" sz="1300" dirty="0"/>
          </a:p>
        </p:txBody>
      </p:sp>
      <p:sp>
        <p:nvSpPr>
          <p:cNvPr id="57" name="Text 54"/>
          <p:cNvSpPr/>
          <p:nvPr/>
        </p:nvSpPr>
        <p:spPr>
          <a:xfrm>
            <a:off x="9875520" y="5257800"/>
            <a:ext cx="16093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2.9%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58368" y="5797296"/>
            <a:ext cx="10927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/ unassigned = B$837.00 voucher sales + B$706.40 subscription revenue, less B$24.81 MDR.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PRIORITIES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branch recovery on Salar and Lambak.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Combined Q3 reported loss: B$5,311.17 • Proposed areas for management review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" y="2382012"/>
            <a:ext cx="5513832" cy="3593592"/>
          </a:xfrm>
          <a:prstGeom prst="roundRect">
            <a:avLst>
              <a:gd name="adj" fmla="val 3562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2331720"/>
            <a:ext cx="5513832" cy="3593592"/>
          </a:xfrm>
          <a:prstGeom prst="roundRect">
            <a:avLst>
              <a:gd name="adj" fmla="val 3562"/>
            </a:avLst>
          </a:prstGeom>
          <a:solidFill>
            <a:srgbClr val="FFFFFF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" y="2587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13816" y="31089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D34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−B$2,850.96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13816" y="3739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-21.3% margin • Revenue B$13,371.00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3816" y="4315968"/>
            <a:ext cx="5029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Wages / part-time / bonus: B$6,638.72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Rent: B$6,600.00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Together: 99.0% of branch revenue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13816" y="5440680"/>
            <a:ext cx="4956048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3544" y="5481828"/>
            <a:ext cx="4736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rent burden and staffing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78524" y="2382012"/>
            <a:ext cx="5513832" cy="3593592"/>
          </a:xfrm>
          <a:prstGeom prst="roundRect">
            <a:avLst>
              <a:gd name="adj" fmla="val 3562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37376" y="2331720"/>
            <a:ext cx="5513832" cy="3593592"/>
          </a:xfrm>
          <a:prstGeom prst="roundRect">
            <a:avLst>
              <a:gd name="adj" fmla="val 3562"/>
            </a:avLst>
          </a:prstGeom>
          <a:solidFill>
            <a:srgbClr val="FFF3E2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65976" y="25877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Lambak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6665976" y="310896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D34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−B$2,460.21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6665976" y="37398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-28.1% margin • Revenue B$8,747.00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665976" y="4315968"/>
            <a:ext cx="5029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Wages / part-time / bonus: B$5,456.75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Rent: B$3,000.00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Together: 96.7% of branch revenue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665976" y="5440680"/>
            <a:ext cx="4956048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75704" y="5481828"/>
            <a:ext cx="4736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demand and shift coverage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COMPOSITION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 remains the core; prepaid channels are small.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streams below reconcile to Q3 reported revenue of B$83,142.40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" y="2391156"/>
            <a:ext cx="3593592" cy="2185416"/>
          </a:xfrm>
          <a:prstGeom prst="roundRect">
            <a:avLst>
              <a:gd name="adj" fmla="val 5858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340864"/>
            <a:ext cx="3593592" cy="2185416"/>
          </a:xfrm>
          <a:prstGeom prst="roundRect">
            <a:avLst>
              <a:gd name="adj" fmla="val 5858"/>
            </a:avLst>
          </a:prstGeom>
          <a:solidFill>
            <a:srgbClr val="FFFFFF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2523744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POS, NET OF REFUNDS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" y="2980944"/>
            <a:ext cx="319125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B$81,599.00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795528" y="3694176"/>
            <a:ext cx="31912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98.1% of Q3 revenue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and historical POS records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94276" y="2391156"/>
            <a:ext cx="3410712" cy="2185416"/>
          </a:xfrm>
          <a:prstGeom prst="roundRect">
            <a:avLst>
              <a:gd name="adj" fmla="val 5858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53128" y="2340864"/>
            <a:ext cx="3410712" cy="2185416"/>
          </a:xfrm>
          <a:prstGeom prst="roundRect">
            <a:avLst>
              <a:gd name="adj" fmla="val 5858"/>
            </a:avLst>
          </a:prstGeom>
          <a:solidFill>
            <a:srgbClr val="FFF3E2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54296" y="2523744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VOUCHER SALES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54296" y="2980944"/>
            <a:ext cx="300837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B$837.00</a:t>
            </a:r>
            <a:endParaRPr lang="en-US" sz="3100" dirty="0"/>
          </a:p>
        </p:txBody>
      </p:sp>
      <p:sp>
        <p:nvSpPr>
          <p:cNvPr id="19" name="Text 16"/>
          <p:cNvSpPr/>
          <p:nvPr/>
        </p:nvSpPr>
        <p:spPr>
          <a:xfrm>
            <a:off x="4654296" y="3694176"/>
            <a:ext cx="3008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1.0% of Q3 revenue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 vouchers • 5 bulk sales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79308" y="2391156"/>
            <a:ext cx="3410712" cy="2185416"/>
          </a:xfrm>
          <a:prstGeom prst="roundRect">
            <a:avLst>
              <a:gd name="adj" fmla="val 5858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0" y="2340864"/>
            <a:ext cx="3410712" cy="2185416"/>
          </a:xfrm>
          <a:prstGeom prst="roundRect">
            <a:avLst>
              <a:gd name="adj" fmla="val 5858"/>
            </a:avLst>
          </a:prstGeom>
          <a:solidFill>
            <a:srgbClr val="F0EAFB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39328" y="2523744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REVENUE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39328" y="2980944"/>
            <a:ext cx="300837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B$706.40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8339328" y="3694176"/>
            <a:ext cx="30083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0.8% of Q3 revenue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Recognized over service periods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3232" y="4946904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4873752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Voucher policy: revenue at sale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60120" y="5294376"/>
            <a:ext cx="5193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reporting recognises sales in full: B$450 in July, B$36 in August and B$351 in September.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19088" y="4946904"/>
            <a:ext cx="109728" cy="109728"/>
          </a:xfrm>
          <a:prstGeom prst="ellipse">
            <a:avLst/>
          </a:prstGeom>
          <a:solidFill>
            <a:srgbClr val="9168E8"/>
          </a:solidFill>
          <a:ln w="12700">
            <a:solidFill>
              <a:srgbClr val="9168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65976" y="4873752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Redemption treatment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665976" y="5294376"/>
            <a:ext cx="4736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B$0 redemption package avoids recognising the sale twice. Serial-level reconciliation remains a proposed control.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reporting includes all 15 depreciation entries.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branches × three months • Recorded management P&amp;L coverage as at 6 October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" y="2372868"/>
            <a:ext cx="3593592" cy="1938528"/>
          </a:xfrm>
          <a:prstGeom prst="roundRect">
            <a:avLst>
              <a:gd name="adj" fmla="val 6604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322576"/>
            <a:ext cx="3593592" cy="1938528"/>
          </a:xfrm>
          <a:prstGeom prst="roundRect">
            <a:avLst>
              <a:gd name="adj" fmla="val 6604"/>
            </a:avLst>
          </a:prstGeom>
          <a:solidFill>
            <a:srgbClr val="F0EAFB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" y="2505456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DEPRECIATION COVERAGE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" y="2962656"/>
            <a:ext cx="319125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15</a:t>
            </a:r>
            <a:endParaRPr lang="en-US" sz="3100" dirty="0"/>
          </a:p>
        </p:txBody>
      </p:sp>
      <p:sp>
        <p:nvSpPr>
          <p:cNvPr id="14" name="Text 11"/>
          <p:cNvSpPr/>
          <p:nvPr/>
        </p:nvSpPr>
        <p:spPr>
          <a:xfrm>
            <a:off x="795528" y="3675888"/>
            <a:ext cx="31912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branches × three months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94276" y="2372868"/>
            <a:ext cx="3410712" cy="1938528"/>
          </a:xfrm>
          <a:prstGeom prst="roundRect">
            <a:avLst>
              <a:gd name="adj" fmla="val 6604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53128" y="2322576"/>
            <a:ext cx="3410712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54296" y="2505456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DEPRECIATION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54296" y="2962656"/>
            <a:ext cx="300837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B$2,125.05</a:t>
            </a:r>
            <a:endParaRPr lang="en-US" sz="3100" dirty="0"/>
          </a:p>
        </p:txBody>
      </p:sp>
      <p:sp>
        <p:nvSpPr>
          <p:cNvPr id="19" name="Text 16"/>
          <p:cNvSpPr/>
          <p:nvPr/>
        </p:nvSpPr>
        <p:spPr>
          <a:xfrm>
            <a:off x="4654296" y="3675888"/>
            <a:ext cx="3008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B$708.35 per month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79308" y="2372868"/>
            <a:ext cx="3410712" cy="1938528"/>
          </a:xfrm>
          <a:prstGeom prst="roundRect">
            <a:avLst>
              <a:gd name="adj" fmla="val 6604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38160" y="2322576"/>
            <a:ext cx="3410712" cy="1938528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339328" y="2505456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UNMAPPED EXPENSE VALUE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39328" y="2962656"/>
            <a:ext cx="3008376" cy="6126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B$0.00</a:t>
            </a:r>
            <a:endParaRPr lang="en-US" sz="3100" dirty="0"/>
          </a:p>
        </p:txBody>
      </p:sp>
      <p:sp>
        <p:nvSpPr>
          <p:cNvPr id="24" name="Text 21"/>
          <p:cNvSpPr/>
          <p:nvPr/>
        </p:nvSpPr>
        <p:spPr>
          <a:xfrm>
            <a:off x="8339328" y="3675888"/>
            <a:ext cx="30083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Within the recorded Q3 dataset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3232" y="4709160"/>
            <a:ext cx="109728" cy="109728"/>
          </a:xfrm>
          <a:prstGeom prst="ellipse">
            <a:avLst/>
          </a:prstGeom>
          <a:solidFill>
            <a:srgbClr val="9168E8"/>
          </a:solidFill>
          <a:ln w="12700">
            <a:solidFill>
              <a:srgbClr val="9168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0120" y="4636008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Connecteam expenses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960120" y="5056632"/>
            <a:ext cx="5148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successful sync: 6 Oct, 04:42 BNT. Advance salary is informational and excluded from P&amp;L.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419088" y="4709160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65976" y="463600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basis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665976" y="5056632"/>
            <a:ext cx="4690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revenue, costs and branch profitability from management records. Accounting policies are set out in Appendix B.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MOMENTUM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trust. Growing our reputation.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and institutional trust • CEO-led marketing • Building for the long term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Management update • Brand-building activities to date • Financial results unchanged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" y="2354580"/>
            <a:ext cx="5413248" cy="2569464"/>
          </a:xfrm>
          <a:prstGeom prst="roundRect">
            <a:avLst>
              <a:gd name="adj" fmla="val 4982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304288"/>
            <a:ext cx="5413248" cy="2569464"/>
          </a:xfrm>
          <a:prstGeom prst="roundRect">
            <a:avLst>
              <a:gd name="adj" fmla="val 4982"/>
            </a:avLst>
          </a:prstGeom>
          <a:solidFill>
            <a:srgbClr val="FFFFFF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532888"/>
            <a:ext cx="4919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by recognised organisations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841248" y="2971800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 highlighted by management: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41248" y="3447288"/>
            <a:ext cx="2221992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" y="3488436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BSM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82696" y="3447288"/>
            <a:ext cx="2221992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92424" y="3488436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Takaful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41248" y="3904488"/>
            <a:ext cx="2221992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" y="3945636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Progresif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282696" y="3904488"/>
            <a:ext cx="2221992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92424" y="3945636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Bruhealth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41248" y="4361688"/>
            <a:ext cx="2221992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0976" y="4402836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Job Centre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23076" y="2354580"/>
            <a:ext cx="5276088" cy="2569464"/>
          </a:xfrm>
          <a:prstGeom prst="roundRect">
            <a:avLst>
              <a:gd name="adj" fmla="val 4982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81928" y="2304288"/>
            <a:ext cx="5276088" cy="2569464"/>
          </a:xfrm>
          <a:prstGeom prst="roundRect">
            <a:avLst>
              <a:gd name="adj" fmla="val 4982"/>
            </a:avLst>
          </a:prstGeom>
          <a:solidFill>
            <a:srgbClr val="FFF3E2"/>
          </a:solidFill>
          <a:ln w="15240">
            <a:solidFill>
              <a:srgbClr val="11172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28816" y="2532888"/>
            <a:ext cx="4782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CEO-led brand visibility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6537960" y="3163824"/>
            <a:ext cx="109728" cy="109728"/>
          </a:xfrm>
          <a:prstGeom prst="ellipse">
            <a:avLst/>
          </a:prstGeom>
          <a:solidFill>
            <a:srgbClr val="9168E8"/>
          </a:solidFill>
          <a:ln w="12700">
            <a:solidFill>
              <a:srgbClr val="9168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84848" y="3090672"/>
            <a:ext cx="4398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Podcast with Posh Qifly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784848" y="3511296"/>
            <a:ext cx="4398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Sharing the Cuci Xpress story with a wider audience.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37960" y="4050792"/>
            <a:ext cx="109728" cy="1097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84848" y="3977640"/>
            <a:ext cx="4398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Progresif Ding adverts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784848" y="4398264"/>
            <a:ext cx="4398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appearance that brings further visibility to Cuci Xpress.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94360" y="5148072"/>
            <a:ext cx="10963656" cy="987552"/>
          </a:xfrm>
          <a:prstGeom prst="roundRect">
            <a:avLst>
              <a:gd name="adj" fmla="val 12963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1248" y="5276088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is modest today; our commitment is long-term growth.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841248" y="5623560"/>
            <a:ext cx="10469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are building trust and visibility while working to improve profitability. Thank you for believing in Cuci Xpress.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InsyaAllah, we are moving in the right direction.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 PRIORITIES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focus: protect contribution before pursuing scale.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Proposed priorities for management and shareholder discussion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" y="2386584"/>
            <a:ext cx="576072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2427732"/>
            <a:ext cx="356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472184" y="2313432"/>
            <a:ext cx="9966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 loss-making branch contribution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472184" y="2706624"/>
            <a:ext cx="9930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Salar’s rent/staffing burden and Lambak’s demand/shift coverage. Track weekly branch results.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" y="3291840"/>
            <a:ext cx="576072" cy="347472"/>
          </a:xfrm>
          <a:prstGeom prst="roundRect">
            <a:avLst>
              <a:gd name="adj" fmla="val 36842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332988"/>
            <a:ext cx="356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472184" y="3218688"/>
            <a:ext cx="9966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September’s revenue decline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72184" y="3611880"/>
            <a:ext cx="9930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branch-level sales, operating days and wash activity before assigning a cause.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21792" y="4197096"/>
            <a:ext cx="576072" cy="347472"/>
          </a:xfrm>
          <a:prstGeom prst="roundRect">
            <a:avLst>
              <a:gd name="adj" fmla="val 36842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238244"/>
            <a:ext cx="356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472184" y="4123944"/>
            <a:ext cx="9966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 Q2 before drawing profit trends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472184" y="4517136"/>
            <a:ext cx="9930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the previously reported figures to current records before making cost-saving or profit-growth claims.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21792" y="5102352"/>
            <a:ext cx="576072" cy="347472"/>
          </a:xfrm>
          <a:prstGeom prst="roundRect">
            <a:avLst>
              <a:gd name="adj" fmla="val 36842"/>
            </a:avLst>
          </a:prstGeom>
          <a:solidFill>
            <a:srgbClr val="FFF3E2"/>
          </a:solidFill>
          <a:ln w="12700">
            <a:solidFill>
              <a:srgbClr val="FFF3E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5143500"/>
            <a:ext cx="356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72184" y="5029200"/>
            <a:ext cx="99669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Strengthen quarterly shareholder reporting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472184" y="5422392"/>
            <a:ext cx="993038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cash position, significant liabilities and use of invested funds once reconciled figures are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DETAIL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A — Q3 monthly management P&amp;L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BND • Full precision • Expenses shown as positive costs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85216" y="2267712"/>
            <a:ext cx="10972800" cy="306324"/>
          </a:xfrm>
          <a:prstGeom prst="rect">
            <a:avLst>
              <a:gd name="adj" fmla="val 41791"/>
            </a:avLst>
          </a:prstGeom>
          <a:solidFill>
            <a:srgbClr val="111722"/>
          </a:solidFill>
          <a:ln w="12700">
            <a:solidFill>
              <a:srgbClr val="1117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" y="2304288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315968" y="230428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63056" y="230428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10144" y="230428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857232" y="2304288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5216" y="2574036"/>
            <a:ext cx="10972800" cy="306324"/>
          </a:xfrm>
          <a:prstGeom prst="rect">
            <a:avLst>
              <a:gd name="adj" fmla="val 41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" y="2610612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 revenue, net refunds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315968" y="261061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26,065.00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163056" y="261061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31,167.00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010144" y="261061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24,367.00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857232" y="2610612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81,599.00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85216" y="2880360"/>
            <a:ext cx="10972800" cy="306324"/>
          </a:xfrm>
          <a:prstGeom prst="rect">
            <a:avLst>
              <a:gd name="adj" fmla="val 41791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4944" y="2916936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revenue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315968" y="2916936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195.30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163056" y="2916936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181.15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010144" y="2916936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329.95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857232" y="2916936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706.40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85216" y="3186684"/>
            <a:ext cx="10972800" cy="306324"/>
          </a:xfrm>
          <a:prstGeom prst="rect">
            <a:avLst>
              <a:gd name="adj" fmla="val 41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4944" y="3223260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Voucher sales revenue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315968" y="3223260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450.00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163056" y="3223260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36.00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8010144" y="3223260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351.00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9857232" y="3223260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837.00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585216" y="3493008"/>
            <a:ext cx="10972800" cy="306324"/>
          </a:xfrm>
          <a:prstGeom prst="rect">
            <a:avLst>
              <a:gd name="adj" fmla="val 41791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4944" y="3529584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315968" y="3529584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26,710.30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6163056" y="3529584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31,384.15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8010144" y="3529584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25,047.95</a:t>
            </a:r>
            <a:endParaRPr lang="en-US" sz="1150" dirty="0"/>
          </a:p>
        </p:txBody>
      </p:sp>
      <p:sp>
        <p:nvSpPr>
          <p:cNvPr id="39" name="Text 36"/>
          <p:cNvSpPr/>
          <p:nvPr/>
        </p:nvSpPr>
        <p:spPr>
          <a:xfrm>
            <a:off x="9857232" y="3529584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83,142.40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585216" y="3799332"/>
            <a:ext cx="10972800" cy="306324"/>
          </a:xfrm>
          <a:prstGeom prst="rect">
            <a:avLst>
              <a:gd name="adj" fmla="val 41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4944" y="3835908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of services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4315968" y="383590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15,054.69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6163056" y="383590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15,733.30</a:t>
            </a:r>
            <a:endParaRPr lang="en-US" sz="1150" dirty="0"/>
          </a:p>
        </p:txBody>
      </p:sp>
      <p:sp>
        <p:nvSpPr>
          <p:cNvPr id="44" name="Text 41"/>
          <p:cNvSpPr/>
          <p:nvPr/>
        </p:nvSpPr>
        <p:spPr>
          <a:xfrm>
            <a:off x="8010144" y="383590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15,263.71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9857232" y="3835908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46,051.70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85216" y="4105656"/>
            <a:ext cx="10972800" cy="306324"/>
          </a:xfrm>
          <a:prstGeom prst="rect">
            <a:avLst>
              <a:gd name="adj" fmla="val 41791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4944" y="4142232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profit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4315968" y="414223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11,655.61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6163056" y="414223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15,650.85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8010144" y="414223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9,784.24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9857232" y="4142232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37,090.70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85216" y="4411980"/>
            <a:ext cx="10972800" cy="306324"/>
          </a:xfrm>
          <a:prstGeom prst="rect">
            <a:avLst>
              <a:gd name="adj" fmla="val 417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94944" y="4448556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expenses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4315968" y="4448556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10,719.74</a:t>
            </a:r>
            <a:endParaRPr lang="en-US" sz="1150" dirty="0"/>
          </a:p>
        </p:txBody>
      </p:sp>
      <p:sp>
        <p:nvSpPr>
          <p:cNvPr id="55" name="Text 52"/>
          <p:cNvSpPr/>
          <p:nvPr/>
        </p:nvSpPr>
        <p:spPr>
          <a:xfrm>
            <a:off x="6163056" y="4448556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10,811.66</a:t>
            </a:r>
            <a:endParaRPr lang="en-US" sz="1150" dirty="0"/>
          </a:p>
        </p:txBody>
      </p:sp>
      <p:sp>
        <p:nvSpPr>
          <p:cNvPr id="56" name="Text 53"/>
          <p:cNvSpPr/>
          <p:nvPr/>
        </p:nvSpPr>
        <p:spPr>
          <a:xfrm>
            <a:off x="8010144" y="4448556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11,035.22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9857232" y="4448556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32,566.62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585216" y="4718304"/>
            <a:ext cx="10972800" cy="306324"/>
          </a:xfrm>
          <a:prstGeom prst="rect">
            <a:avLst>
              <a:gd name="adj" fmla="val 41791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94944" y="4754880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Unmapped expenses</a:t>
            </a:r>
            <a:endParaRPr lang="en-US" sz="1150" dirty="0"/>
          </a:p>
        </p:txBody>
      </p:sp>
      <p:sp>
        <p:nvSpPr>
          <p:cNvPr id="60" name="Text 57"/>
          <p:cNvSpPr/>
          <p:nvPr/>
        </p:nvSpPr>
        <p:spPr>
          <a:xfrm>
            <a:off x="4315968" y="4754880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6163056" y="4754880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</a:t>
            </a:r>
            <a:endParaRPr lang="en-US" sz="1150" dirty="0"/>
          </a:p>
        </p:txBody>
      </p:sp>
      <p:sp>
        <p:nvSpPr>
          <p:cNvPr id="62" name="Text 59"/>
          <p:cNvSpPr/>
          <p:nvPr/>
        </p:nvSpPr>
        <p:spPr>
          <a:xfrm>
            <a:off x="8010144" y="4754880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</a:t>
            </a:r>
            <a:endParaRPr lang="en-US" sz="1150" dirty="0"/>
          </a:p>
        </p:txBody>
      </p:sp>
      <p:sp>
        <p:nvSpPr>
          <p:cNvPr id="63" name="Text 60"/>
          <p:cNvSpPr/>
          <p:nvPr/>
        </p:nvSpPr>
        <p:spPr>
          <a:xfrm>
            <a:off x="9857232" y="4754880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0.00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585216" y="5024628"/>
            <a:ext cx="10972800" cy="306324"/>
          </a:xfrm>
          <a:prstGeom prst="rect">
            <a:avLst>
              <a:gd name="adj" fmla="val 41791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94944" y="5061204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EBITDA</a:t>
            </a:r>
            <a:endParaRPr lang="en-US" sz="1150" dirty="0"/>
          </a:p>
        </p:txBody>
      </p:sp>
      <p:sp>
        <p:nvSpPr>
          <p:cNvPr id="66" name="Text 63"/>
          <p:cNvSpPr/>
          <p:nvPr/>
        </p:nvSpPr>
        <p:spPr>
          <a:xfrm>
            <a:off x="4315968" y="5061204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935.87</a:t>
            </a:r>
            <a:endParaRPr lang="en-US" sz="1150" dirty="0"/>
          </a:p>
        </p:txBody>
      </p:sp>
      <p:sp>
        <p:nvSpPr>
          <p:cNvPr id="67" name="Text 64"/>
          <p:cNvSpPr/>
          <p:nvPr/>
        </p:nvSpPr>
        <p:spPr>
          <a:xfrm>
            <a:off x="6163056" y="5061204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4,839.19</a:t>
            </a:r>
            <a:endParaRPr lang="en-US" sz="1150" dirty="0"/>
          </a:p>
        </p:txBody>
      </p:sp>
      <p:sp>
        <p:nvSpPr>
          <p:cNvPr id="68" name="Text 65"/>
          <p:cNvSpPr/>
          <p:nvPr/>
        </p:nvSpPr>
        <p:spPr>
          <a:xfrm>
            <a:off x="8010144" y="5061204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-1,250.98</a:t>
            </a:r>
            <a:endParaRPr lang="en-US" sz="1150" dirty="0"/>
          </a:p>
        </p:txBody>
      </p:sp>
      <p:sp>
        <p:nvSpPr>
          <p:cNvPr id="69" name="Text 66"/>
          <p:cNvSpPr/>
          <p:nvPr/>
        </p:nvSpPr>
        <p:spPr>
          <a:xfrm>
            <a:off x="9857232" y="5061204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4,524.08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585216" y="5330952"/>
            <a:ext cx="10972800" cy="306324"/>
          </a:xfrm>
          <a:prstGeom prst="rect">
            <a:avLst>
              <a:gd name="adj" fmla="val 41791"/>
            </a:avLst>
          </a:prstGeom>
          <a:solidFill>
            <a:srgbClr val="F8F9FC"/>
          </a:solidFill>
          <a:ln w="12700">
            <a:solidFill>
              <a:srgbClr val="F8F9F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94944" y="5367528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Recorded depreciation</a:t>
            </a:r>
            <a:endParaRPr lang="en-US" sz="1150" dirty="0"/>
          </a:p>
        </p:txBody>
      </p:sp>
      <p:sp>
        <p:nvSpPr>
          <p:cNvPr id="72" name="Text 69"/>
          <p:cNvSpPr/>
          <p:nvPr/>
        </p:nvSpPr>
        <p:spPr>
          <a:xfrm>
            <a:off x="4315968" y="536752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708.35</a:t>
            </a:r>
            <a:endParaRPr lang="en-US" sz="1150" dirty="0"/>
          </a:p>
        </p:txBody>
      </p:sp>
      <p:sp>
        <p:nvSpPr>
          <p:cNvPr id="73" name="Text 70"/>
          <p:cNvSpPr/>
          <p:nvPr/>
        </p:nvSpPr>
        <p:spPr>
          <a:xfrm>
            <a:off x="6163056" y="536752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708.35</a:t>
            </a:r>
            <a:endParaRPr lang="en-US" sz="1150" dirty="0"/>
          </a:p>
        </p:txBody>
      </p:sp>
      <p:sp>
        <p:nvSpPr>
          <p:cNvPr id="74" name="Text 71"/>
          <p:cNvSpPr/>
          <p:nvPr/>
        </p:nvSpPr>
        <p:spPr>
          <a:xfrm>
            <a:off x="8010144" y="5367528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708.35</a:t>
            </a:r>
            <a:endParaRPr lang="en-US" sz="1150" dirty="0"/>
          </a:p>
        </p:txBody>
      </p:sp>
      <p:sp>
        <p:nvSpPr>
          <p:cNvPr id="75" name="Text 72"/>
          <p:cNvSpPr/>
          <p:nvPr/>
        </p:nvSpPr>
        <p:spPr>
          <a:xfrm>
            <a:off x="9857232" y="5367528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2,125.05</a:t>
            </a:r>
            <a:endParaRPr lang="en-US" sz="1150" dirty="0"/>
          </a:p>
        </p:txBody>
      </p:sp>
      <p:sp>
        <p:nvSpPr>
          <p:cNvPr id="76" name="Shape 73"/>
          <p:cNvSpPr/>
          <p:nvPr/>
        </p:nvSpPr>
        <p:spPr>
          <a:xfrm>
            <a:off x="585216" y="5637276"/>
            <a:ext cx="10972800" cy="306324"/>
          </a:xfrm>
          <a:prstGeom prst="rect">
            <a:avLst>
              <a:gd name="adj" fmla="val 41791"/>
            </a:avLst>
          </a:prstGeom>
          <a:solidFill>
            <a:srgbClr val="F0EAFB"/>
          </a:solidFill>
          <a:ln w="12700">
            <a:solidFill>
              <a:srgbClr val="F0EAF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94944" y="5673852"/>
            <a:ext cx="3401568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profit¹</a:t>
            </a:r>
            <a:endParaRPr lang="en-US" sz="1150" dirty="0"/>
          </a:p>
        </p:txBody>
      </p:sp>
      <p:sp>
        <p:nvSpPr>
          <p:cNvPr id="78" name="Text 75"/>
          <p:cNvSpPr/>
          <p:nvPr/>
        </p:nvSpPr>
        <p:spPr>
          <a:xfrm>
            <a:off x="4315968" y="567385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227.52</a:t>
            </a:r>
            <a:endParaRPr lang="en-US" sz="1150" dirty="0"/>
          </a:p>
        </p:txBody>
      </p:sp>
      <p:sp>
        <p:nvSpPr>
          <p:cNvPr id="79" name="Text 76"/>
          <p:cNvSpPr/>
          <p:nvPr/>
        </p:nvSpPr>
        <p:spPr>
          <a:xfrm>
            <a:off x="6163056" y="567385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4,130.84</a:t>
            </a:r>
            <a:endParaRPr lang="en-US" sz="1150" dirty="0"/>
          </a:p>
        </p:txBody>
      </p:sp>
      <p:sp>
        <p:nvSpPr>
          <p:cNvPr id="80" name="Text 77"/>
          <p:cNvSpPr/>
          <p:nvPr/>
        </p:nvSpPr>
        <p:spPr>
          <a:xfrm>
            <a:off x="8010144" y="5673852"/>
            <a:ext cx="162763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-1,959.33</a:t>
            </a:r>
            <a:endParaRPr lang="en-US" sz="1150" dirty="0"/>
          </a:p>
        </p:txBody>
      </p:sp>
      <p:sp>
        <p:nvSpPr>
          <p:cNvPr id="81" name="Text 78"/>
          <p:cNvSpPr/>
          <p:nvPr/>
        </p:nvSpPr>
        <p:spPr>
          <a:xfrm>
            <a:off x="9857232" y="5673852"/>
            <a:ext cx="159105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2,399.03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Cuci </a:t>
            </a:r>
            <a:pPr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Xpress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321040" y="274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40" kern="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BASIS OF PREPARATION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55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Appendix B — Reporting basis and accounting policies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21208" y="170992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2026 shareholder update • Prepared 6 October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DDD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Cuci Xpress Admin P&amp;L • Snapshot: 6 Oct 2026, 04:43 BNT • Unaudited management accounts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247120" y="640994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7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2231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 &amp; currency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898648" y="2231136"/>
            <a:ext cx="8549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Q3: 1 July–30 September 2026, Brunei calendar dates; BND (B$). Revenue comparison uses Q2 previously reported: B$84,930. Q2 recalculations remain unreconciled (slide 5); profit comparisons are held.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" y="29809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98648" y="2980944"/>
            <a:ext cx="8549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 net of refunds under the app’s realization-day rules; subscriptions recognized over service periods. Paid physical vouchers recognized in full at sale under management policy, rather than deferred to redemption.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37307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Expenses &amp; allocation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898648" y="3730752"/>
            <a:ext cx="8549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Connecteam eligible expenses follow expense dates. “All” expenses split equally across five branches. Advance salary is excluded. Unknown-branch voucher sales remain central/unassigned.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368" y="4480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&amp; depreciation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898648" y="4480560"/>
            <a:ext cx="8549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profit¹ = EBITDA less recorded depreciation. Financing and income tax are not separately modelled. Depreciation uses management-entered monthly amounts across all five branches.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6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Reporting basis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898648" y="5230368"/>
            <a:ext cx="8549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quarterly update summarises July–September revenue, expenses and branch profitability, based on management records as at 6 October 2026. Figures are unaudited and use the accounting policies described above.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Cuci Xpress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Cuci Xpress | Q3 2026 Shareholder Update</dc:title>
  <dc:subject>Q3 2026 shareholder performance — unaudited management accounts</dc:subject>
  <dc:creator>Cuci Xpress</dc:creator>
  <cp:lastModifiedBy>Cuci Xpress</cp:lastModifiedBy>
  <cp:revision>1</cp:revision>
  <dcterms:created xsi:type="dcterms:W3CDTF">2026-10-06T12:03:26Z</dcterms:created>
  <dcterms:modified xsi:type="dcterms:W3CDTF">2026-10-06T12:03:26Z</dcterms:modified>
</cp:coreProperties>
</file>