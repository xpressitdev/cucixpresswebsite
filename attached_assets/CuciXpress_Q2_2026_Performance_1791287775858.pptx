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F77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34647</c:v>
                </c:pt>
                <c:pt idx="1">
                  <c:v>24180</c:v>
                </c:pt>
                <c:pt idx="2">
                  <c:v>26103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2025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24809</c:v>
                </c:pt>
                <c:pt idx="1">
                  <c:v>26692</c:v>
                </c:pt>
                <c:pt idx="2">
                  <c:v>28169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F77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Tungku</c:v>
                  </c:pt>
                  <c:pt idx="1">
                    <c:v>Bengkurong</c:v>
                  </c:pt>
                  <c:pt idx="2">
                    <c:v>Salar</c:v>
                  </c:pt>
                  <c:pt idx="3">
                    <c:v>Tutong</c:v>
                  </c:pt>
                  <c:pt idx="4">
                    <c:v>Lambak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31072</c:v>
                </c:pt>
                <c:pt idx="1">
                  <c:v>18170</c:v>
                </c:pt>
                <c:pt idx="2">
                  <c:v>15024</c:v>
                </c:pt>
                <c:pt idx="3">
                  <c:v>13177</c:v>
                </c:pt>
                <c:pt idx="4">
                  <c:v>7487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2025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Tungku</c:v>
                  </c:pt>
                  <c:pt idx="1">
                    <c:v>Bengkurong</c:v>
                  </c:pt>
                  <c:pt idx="2">
                    <c:v>Salar</c:v>
                  </c:pt>
                  <c:pt idx="3">
                    <c:v>Tutong</c:v>
                  </c:pt>
                  <c:pt idx="4">
                    <c:v>Lambak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31719</c:v>
                </c:pt>
                <c:pt idx="1">
                  <c:v>15616</c:v>
                </c:pt>
                <c:pt idx="2">
                  <c:v>17679</c:v>
                </c:pt>
                <c:pt idx="3">
                  <c:v>14421</c:v>
                </c:pt>
                <c:pt idx="4">
                  <c:v>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2026 (BND)</c:v>
                </c:pt>
              </c:strCache>
            </c:strRef>
          </c:tx>
          <c:spPr>
            <a:solidFill>
              <a:srgbClr val="F77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5583</c:v>
                </c:pt>
                <c:pt idx="1">
                  <c:v>-2120</c:v>
                </c:pt>
                <c:pt idx="2">
                  <c:v>-228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2025 (BND)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3810</c:v>
                </c:pt>
                <c:pt idx="1">
                  <c:v>2779</c:v>
                </c:pt>
                <c:pt idx="2">
                  <c:v>5404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(BND)</c:v>
                </c:pt>
              </c:strCache>
            </c:strRef>
          </c:tx>
          <c:spPr>
            <a:solidFill>
              <a:srgbClr val="F77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7F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63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Full-time Staff</c:v>
                  </c:pt>
                  <c:pt idx="1">
                    <c:v>Rental</c:v>
                  </c:pt>
                  <c:pt idx="2">
                    <c:v>Other OPEX</c:v>
                  </c:pt>
                  <c:pt idx="3">
                    <c:v>Part-time Wages</c:v>
                  </c:pt>
                  <c:pt idx="4">
                    <c:v>Car Wash Supplies</c:v>
                  </c:pt>
                  <c:pt idx="5">
                    <c:v>Management Fee</c:v>
                  </c:pt>
                  <c:pt idx="6">
                    <c:v>Utilities</c:v>
                  </c:pt>
                  <c:pt idx="7">
                    <c:v>Depreciation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31109</c:v>
                </c:pt>
                <c:pt idx="1">
                  <c:v>24450</c:v>
                </c:pt>
                <c:pt idx="2">
                  <c:v>6646</c:v>
                </c:pt>
                <c:pt idx="3">
                  <c:v>6339</c:v>
                </c:pt>
                <c:pt idx="4">
                  <c:v>4858</c:v>
                </c:pt>
                <c:pt idx="5">
                  <c:v>3750</c:v>
                </c:pt>
                <c:pt idx="6">
                  <c:v>2920</c:v>
                </c:pt>
                <c:pt idx="7">
                  <c:v>2125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1097280"/>
            <a:ext cx="548640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0" y="11155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24"/>
                </a:solidFill>
              </a:rPr>
              <a:t>Investor Report · Q2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93B"/>
                </a:solidFill>
              </a:rPr>
              <a:t>Cuci Xpress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7F24"/>
                </a:solidFill>
              </a:rPr>
              <a:t>Q2 2026 Performance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57200" y="34564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April — June 2026 · Closing Results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011680" y="4114800"/>
            <a:ext cx="5120640" cy="411480"/>
          </a:xfrm>
          <a:prstGeom prst="roundRect">
            <a:avLst>
              <a:gd name="adj" fmla="val 4888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41330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⚠ Revenue Grew, Margin Compressed — Cost Discipline Needed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Q2 2026 at a Glance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Revenue grew +8.3% YoY, but BDAS-compliant net profit compressed sharply as staff, depreciation and management costs caught up.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1097280" cy="54864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60020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600200"/>
            <a:ext cx="2651760" cy="45720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Q2 REVENUE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19933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F24"/>
                </a:solidFill>
              </a:rPr>
              <a:t>BND 84,930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263347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633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+8.3%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vs BND 78,401 Q2 2025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60020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1600200"/>
            <a:ext cx="2651760" cy="45720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CARS WASHED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383280" y="19933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F24"/>
                </a:solidFill>
              </a:rPr>
              <a:t>7,791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383280" y="263347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2633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-2.6%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8328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vs 8,000 in Q2 2025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60020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600200"/>
            <a:ext cx="2651760" cy="45720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AVG. TICKET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0" y="19933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F24"/>
                </a:solidFill>
              </a:rPr>
              <a:t>BND 10.9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217920" y="263347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2633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+11.2%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1792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vs BND 9.8 in Q2 2025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65760" y="39319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3995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⚠  BDAS-compliant net profit down -73.0%: BND 3,235 vs BND 11,993 in Q2 2025 (15.3% → 3.8% margin)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63440" y="39319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3995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⚠  May: net loss of BND -2,120 — heaviest staff cost month combined with softer revenue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65760" y="457200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4636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✓  Bengkurong: +16.3% revenue growth and the network's best margin at 29.6%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663440" y="457200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00600" y="4636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⚠  Lambak still in investment/ramp-up phase — BND -4,074 loss for the quarter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Month-by-Month: Q2 2026 vs Q2 2025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April carried the quarter on post-Raya momentum; May and June saw revenue soften below 2025 levels while costs stayed elevated.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1097280" cy="54864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160020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126480" y="16459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63640" y="17007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Apr 2026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18120" y="17007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+39.7%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63640" y="19476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BND 34,647  ·  3,179 cars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263640" y="2167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✓ Post-Raya normalization — still the quarter's strongest month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126480" y="2633472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63640" y="26883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May 2026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818120" y="2688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-9.4%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263640" y="2935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BND 24,180  ·  2,219 cars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263640" y="3154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⚠ Softer footfall while staff &amp; maintenance costs stayed elevated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126480" y="3621024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63640" y="36758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Jun 2026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818120" y="36758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-7.3%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263640" y="392277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BND 26,103  ·  2,395 cars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263640" y="41422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⚠ Revenue steadied but margin stayed thin into quarter close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Q2 2026 Branch Performance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Bengkurong (+16.3%) is the standout on growth and margin (29.6%). Tungku, Salar &amp; Tutong softened YoY. Lambak still ramping.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1097280" cy="54864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16002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943600" y="1664208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80760" y="17190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Tungku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001000" y="171907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-2%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80760" y="19933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Rev: BND 31,072  |  P&amp;L: -BND 424  |  Margin: -1.4%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943600" y="2322576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80760" y="23774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Bengkurong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001000" y="237744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+16.3%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080760" y="26517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Rev: BND 18,170  |  P&amp;L: BND 5,382  |  Margin: 29.6%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943600" y="2980944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80760" y="303580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Salar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001000" y="30358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-15%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080760" y="331012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Rev: BND 15,024  |  P&amp;L: -BND 1,720  |  Margin: -11.4%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943600" y="3639312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0760" y="369417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Tutong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001000" y="369417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-8.6%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080760" y="396849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Rev: BND 13,177  |  P&amp;L: BND 1,071  |  Margin: 8.1%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5943600" y="42976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80760" y="435254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Lambak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001000" y="435254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3399"/>
                </a:solidFill>
              </a:rPr>
              <a:t>NEW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080760" y="46268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Rev: BND 7,487  |  P&amp;L: -BND 4,074  |  Margin: -54.4%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Q2 Profitability: Margin Under Pressure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BDAS-compliant net profit down -73.0% vs Q2 2025 — revenue grew, but staff wages, depreciation and management fees grew faster.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1097280" cy="54864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6002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600200"/>
            <a:ext cx="2011680" cy="45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7190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BND 84,930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3408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BND 78,401 (Q2 2025)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2920" y="2542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+8.3%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14600" y="16002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1600200"/>
            <a:ext cx="2011680" cy="45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51760" y="17190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EXPENSES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5176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BND 81,695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651760" y="23408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BND 66,408 (Q2 2025)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651760" y="2542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+23%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16002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1600200"/>
            <a:ext cx="2011680" cy="45720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17190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NET PROFIT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80060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24"/>
                </a:solidFill>
              </a:rPr>
              <a:t>BND 3,235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00600" y="23408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BND 11,993 (Q2 2025)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800600" y="2542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-73%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6002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12280" y="1600200"/>
            <a:ext cx="2011680" cy="45720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9440" y="17190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PROFIT MARGIN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94944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24"/>
                </a:solidFill>
              </a:rPr>
              <a:t>3.8%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23408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15.3% (Q2 2025)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949440" y="2542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-11.5pp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309067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⚠  Why did margins compress?  Revenue +8.3% (BND +6,529) while expenses grew +23.0% (BND +15,287) — includes depreciation (BND 2,125) and management fees (BND 3,750) per BDAS-NONPIE, plus higher staff wages across all branches. May turned into an outright loss month.</a:t>
            </a:r>
            <a:endParaRPr lang="en-US" sz="9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3703320"/>
          <a:ext cx="5760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Shape 30"/>
          <p:cNvSpPr/>
          <p:nvPr/>
        </p:nvSpPr>
        <p:spPr>
          <a:xfrm>
            <a:off x="6400800" y="374904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37960" y="38039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Apr 2026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537960" y="40507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16.1% margin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543800" y="40507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✓ Strongest month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400800" y="4379976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537960" y="44348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May 2026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537960" y="46817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-8.8% margin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7543800" y="46817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⚠ Loss month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6400800" y="5010912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537960" y="506577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Jun 2026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6537960" y="5312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-0.9% margin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543800" y="5312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⚠ Near breakeven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Expense Insights: Fixed Costs Now Dominate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Total Q2 expenses BND 82,197 (BDAS-compliant incl. dep &amp; mgmt fee) — grew +23.0% YoY while revenue grew only +8.3%.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1097280" cy="54864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572768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852160" y="1572768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852160" y="1572768"/>
            <a:ext cx="54864" cy="100584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35040" y="16276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99"/>
                </a:solidFill>
              </a:rPr>
              <a:t>FIXED COSTS (Rental + FT Staff)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035040" y="1883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3399"/>
                </a:solidFill>
              </a:rPr>
              <a:t>BND 55,559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035040" y="22494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68% of all expenses — now the majority of total costs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852160" y="269748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52160" y="2697480"/>
            <a:ext cx="54864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35040" y="2752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VARIABLE / OTHER COSTS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035040" y="30083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BND 26,638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035040" y="3374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32% of expenses — flex with demand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852160" y="382219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52160" y="3822192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35040" y="387705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+23.0% costs vs +8.3% revenue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035040" y="4133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Operating leverage reversed this quarter — costs, including depreciation and management fees per BDAS-NONPIE, grew faster than revenue.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852160" y="4535424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E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852160" y="4535424"/>
            <a:ext cx="54864" cy="658368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35040" y="45902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D9"/>
                </a:solidFill>
              </a:rPr>
              <a:t>BND 0.62 supply cost per car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035040" y="48463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BND 4,858 supplies for 7,791 cars washed.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852160" y="5248656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852160" y="5248656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35040" y="53035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Full-time wages up sharply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035040" y="55595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BND 31,109 in full-time staff wages — the single largest driver of margin compression this quarter.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Why Cost Discipline Is Now the Top Priority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Five reasons Q2 2026 marks a shift from Q1's turnaround story to a margin-management challenge.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1097280" cy="54864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572768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572768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709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Margin compressed sharply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" y="2002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15.3% → 3.8% margin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" y="22860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Net profit came in at BND 3,235 vs BND 11,993 (-73.0%) despite +8.3% more revenue — staff wages, depreciation and management fees outpaced growth.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1572768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1572768"/>
            <a:ext cx="54864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8888" y="1709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May was the weak point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18888" y="2002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BND -2,120 net loss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18888" y="22860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May combined softer revenue (BND 24,180) with the quarter's heaviest staff cost load. April stayed solidly profitable and June was near breakeven.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3218688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3218688"/>
            <a:ext cx="54864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" y="3355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Bengkurong is the standout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648" y="3648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29.6% margin · +16.3% growth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Bengkurong grew revenue +16.3% to BND 18,170 while posting the network's best margin at 29.6% — proof the model works when execution is tight.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17720" y="3218688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7720" y="3218688"/>
            <a:ext cx="54864" cy="150876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18888" y="3355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Mature branches softened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18888" y="3648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3399"/>
                </a:solidFill>
              </a:rPr>
              <a:t>Tungku -2.0% · Salar -15.0% · Tutong -8.6%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18888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Three of five branches lost ground YoY. Salar posted the sharpest decline and a BND -1,720 loss — all warrant a closer look at staffing and demand.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1480" y="4864608"/>
            <a:ext cx="8321040" cy="1508760"/>
          </a:xfrm>
          <a:prstGeom prst="roundRect">
            <a:avLst>
              <a:gd name="adj" fmla="val 6061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4864608"/>
            <a:ext cx="54864" cy="15087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" y="50017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Lambak still ramping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12648" y="529437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9"/>
                </a:solidFill>
              </a:rPr>
              <a:t>BND 7,487 revenue · BND -4,074 loss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2648" y="55778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Lambak continues to scale from a near-zero base a year ago, but remains the network's largest drag on profitability. Re-evaluate against a Q4 breakeven target.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Q3 2026 Priorities &amp; Outlook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Revenue is on track for the annual target — the focus now shifts to restoring margin discipline.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1097280" cy="54864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27632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27632"/>
            <a:ext cx="64008" cy="1261872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7647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Rebuild Margin Discipline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15798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Staff wages rose materially in Q2. Review scheduling and part-time flex ratios to bring cost of services back toward Q1 levels.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627632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627632"/>
            <a:ext cx="64008" cy="1261872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7647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Stabilize Salar &amp; Tungku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15798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Both mature branches saw revenue declines (-15.0% and -2.0%). Refresh local marketing and retention offers to recover volume in Q3.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063240"/>
            <a:ext cx="64008" cy="126187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200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Scale Bengkurong's Playbook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35935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Bengkurong's 29.6% margin is the network's best. Replicate its scheduling and staffing model at Tutong and Tungku.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3063240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3063240"/>
            <a:ext cx="64008" cy="1261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3200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Push Lambak Toward Breakeven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35935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Lambak revenue is scaling well from its near-zero base. Target breakeven by Q4 2026 as volume and local awareness build.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462272"/>
            <a:ext cx="8229600" cy="173736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462272"/>
            <a:ext cx="64008" cy="1737360"/>
          </a:xfrm>
          <a:prstGeom prst="rect">
            <a:avLst/>
          </a:prstGeom>
          <a:solidFill>
            <a:srgbClr val="F77F24"/>
          </a:solidFill>
          <a:ln w="12700">
            <a:solidFill>
              <a:srgbClr val="F77F2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452628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7F24"/>
                </a:solidFill>
              </a:rPr>
              <a:t>Full Year 2026 Target: BND 340,000+ &amp; 18%+ Margin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85800" y="4919472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4956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H1 ACTUAL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95528" y="51572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24"/>
                </a:solidFill>
              </a:rPr>
              <a:t>BND 186,579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95528" y="54223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avg BND 31,097/mo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337560" y="4919472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47288" y="4956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Q3–Q4 NEEDED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447288" y="51572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BND 153,421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447288" y="54223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≈ BND 25,570/mo avg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989320" y="4919472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99048" y="4956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Q2 NET PROFIT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99048" y="51572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BND 3,235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099048" y="54223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3.8% margin — needs recovery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85800" y="57790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Revenue pace of BND 31,097/mo is above the BND 25,570/mo required — top line on track.  ⚠  But the 18%+ margin target is at risk at just 3.8% — cost discipline in Q3 is essential.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Cuci Xpress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Cuci Xpress Q2 2026 Performance Report</dc:title>
  <dc:subject>Q2 2026 Investor Presentation</dc:subject>
  <dc:creator>Cuci Xpress</dc:creator>
  <cp:lastModifiedBy>Cuci Xpress</cp:lastModifiedBy>
  <cp:revision>1</cp:revision>
  <dcterms:created xsi:type="dcterms:W3CDTF">2026-10-06T11:54:41Z</dcterms:created>
  <dcterms:modified xsi:type="dcterms:W3CDTF">2026-10-06T11:54:41Z</dcterms:modified>
</cp:coreProperties>
</file>